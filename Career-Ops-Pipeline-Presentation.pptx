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" cy="1828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Automating Your Job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8BDF8"/>
                </a:solidFill>
                <a:latin typeface="Calibri"/>
              </a:defRPr>
            </a:pPr>
            <a:r>
              <a:t>How AI + Pipeline Engineering Can Transform Career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 real-world system scanning 40+ websites, evaluating roles with AI,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and generating tailored materials — built on Claude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846320"/>
            <a:ext cx="1737360" cy="4572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8737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8BDF8"/>
                </a:solidFill>
                <a:latin typeface="Calibri"/>
              </a:defRPr>
            </a:pPr>
            <a:r>
              <a:t>Claude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4846320"/>
            <a:ext cx="1737360" cy="4572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48737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DE80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4846320"/>
            <a:ext cx="1737360" cy="4572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48737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78BFA"/>
                </a:solidFill>
                <a:latin typeface="Calibri"/>
              </a:defRPr>
            </a:pPr>
            <a:r>
              <a:t>YAML Config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4846320"/>
            <a:ext cx="1737360" cy="4572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48737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B923C"/>
                </a:solidFill>
                <a:latin typeface="Calibri"/>
              </a:defRPr>
            </a:pPr>
            <a:r>
              <a:t>WebSearch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4846320"/>
            <a:ext cx="1737360" cy="4572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48737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Markdown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760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Erick G. Rosa  |  PMP, PMI-ACP, SPC6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Problem: Manual Job Search Doesn't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292608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54480" y="1737360"/>
            <a:ext cx="914400" cy="91440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200" b="1">
                <a:solidFill>
                  <a:srgbClr val="FFFFFF"/>
                </a:solidFill>
              </a:defRPr>
            </a:pPr>
            <a:r>
              <a:t>50+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7171"/>
                </a:solidFill>
                <a:latin typeface="Calibri"/>
              </a:defRPr>
            </a:pPr>
            <a:r>
              <a:t>Hours/Week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Average time spent</a:t>
            </a:r>
            <a:br/>
            <a:r>
              <a:t>manually searching,</a:t>
            </a:r>
            <a:br/>
            <a:r>
              <a:t>applying,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463040"/>
            <a:ext cx="2560320" cy="292608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0" y="1737360"/>
            <a:ext cx="914400" cy="9144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200" b="1">
                <a:solidFill>
                  <a:srgbClr val="FFFFFF"/>
                </a:solidFill>
              </a:defRPr>
            </a:pPr>
            <a:r>
              <a:t>73%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923C"/>
                </a:solidFill>
                <a:latin typeface="Calibri"/>
              </a:defRPr>
            </a:pPr>
            <a:r>
              <a:t>Jobs Missed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291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Qualified candidates</a:t>
            </a:r>
            <a:br/>
            <a:r>
              <a:t>never see matching</a:t>
            </a:r>
            <a:br/>
            <a:r>
              <a:t>roles in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63040"/>
            <a:ext cx="2560320" cy="292608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23760" y="1737360"/>
            <a:ext cx="914400" cy="91440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200" b="1">
                <a:solidFill>
                  <a:srgbClr val="FFFFFF"/>
                </a:solidFill>
              </a:defRPr>
            </a:pPr>
            <a:r>
              <a:t>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ACC15"/>
                </a:solidFill>
                <a:latin typeface="Calibri"/>
              </a:defRPr>
            </a:pPr>
            <a:r>
              <a:t>Generic Apps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91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Applications sent</a:t>
            </a:r>
            <a:br/>
            <a:r>
              <a:t>without tailoring to</a:t>
            </a:r>
            <a:br/>
            <a:r>
              <a:t>the specific role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463040"/>
            <a:ext cx="2560320" cy="292608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0" y="1737360"/>
            <a:ext cx="914400" cy="9144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200" b="1">
                <a:solidFill>
                  <a:srgbClr val="FFFFFF"/>
                </a:solidFill>
              </a:defRPr>
            </a:pPr>
            <a:r>
              <a:t>2-3 wks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78BFA"/>
                </a:solidFill>
                <a:latin typeface="Calibri"/>
              </a:defRPr>
            </a:pPr>
            <a:r>
              <a:t>Response Lag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291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Time between posting</a:t>
            </a:r>
            <a:br/>
            <a:r>
              <a:t>and candidate</a:t>
            </a:r>
            <a:br/>
            <a:r>
              <a:t>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Knowledge workers deserve the same automation they build for others.</a:t>
            </a:r>
            <a:br/>
            <a:r>
              <a:t>What if your job search ran like a CI/CD pipeline — scanning, filtering, scoring, and preparing materials automatically?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Solution: Career-Ops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DE80"/>
                </a:solidFill>
                <a:latin typeface="Calibri"/>
              </a:defRPr>
            </a:pPr>
            <a:r>
              <a:t>An end-to-end AI-powered job search automation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645920" cy="201168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01168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40+ Websites</a:t>
            </a:r>
            <a:br/>
            <a:r>
              <a:t>Searched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48840" y="2651760"/>
            <a:ext cx="22860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77440" y="1828800"/>
            <a:ext cx="1645920" cy="201168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26080" y="2011680"/>
            <a:ext cx="548640" cy="5486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697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78BFA"/>
                </a:solidFill>
                <a:latin typeface="Calibri"/>
              </a:defRPr>
            </a:pPr>
            <a:r>
              <a:t>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1089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Dedup &amp;</a:t>
            </a:r>
            <a:br/>
            <a:r>
              <a:t>Title Match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69080" y="2651760"/>
            <a:ext cx="228600" cy="274320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80" y="1828800"/>
            <a:ext cx="1645920" cy="201168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46320" y="2011680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697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DE80"/>
                </a:solidFill>
                <a:latin typeface="Calibri"/>
              </a:defRPr>
            </a:pPr>
            <a:r>
              <a:t>EVALUATE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1089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AI Scoring</a:t>
            </a:r>
            <a:br/>
            <a:r>
              <a:t>7 Core Strengths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89320" y="2651760"/>
            <a:ext cx="228600" cy="27432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1828800"/>
            <a:ext cx="1645920" cy="201168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66560" y="2011680"/>
            <a:ext cx="548640" cy="54864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97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923C"/>
                </a:solidFill>
                <a:latin typeface="Calibri"/>
              </a:defRPr>
            </a:pPr>
            <a:r>
              <a:t>GENERATE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1089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Reports &amp;</a:t>
            </a:r>
            <a:br/>
            <a:r>
              <a:t>Tailored CVs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909560" y="2651760"/>
            <a:ext cx="228600" cy="274320"/>
          </a:xfrm>
          <a:prstGeom prst="rightArrow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60" y="1828800"/>
            <a:ext cx="1645920" cy="201168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86800" y="2011680"/>
            <a:ext cx="548640" cy="54864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697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ACC15"/>
                </a:solidFill>
                <a:latin typeface="Calibri"/>
              </a:defRPr>
            </a:pPr>
            <a:r>
              <a:t>TRACK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1089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Pipeline</a:t>
            </a:r>
            <a:br/>
            <a:r>
              <a:t>Dashboard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829800" y="2651760"/>
            <a:ext cx="228600" cy="274320"/>
          </a:xfrm>
          <a:prstGeom prst="rightArrow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58400" y="1828800"/>
            <a:ext cx="1645920" cy="201168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07040" y="2011680"/>
            <a:ext cx="548640" cy="54864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2697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7171"/>
                </a:solidFill>
                <a:latin typeface="Calibri"/>
              </a:defRPr>
            </a:pPr>
            <a:r>
              <a:t>APPLY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31089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Human Review</a:t>
            </a:r>
            <a:br/>
            <a:r>
              <a:t>&amp; Submit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389120"/>
            <a:ext cx="10698480" cy="164592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4572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  <a:latin typeface="Calibri"/>
              </a:defRPr>
            </a:pPr>
            <a:r>
              <a:t>740+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Jobs Evaluated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4572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ADE80"/>
                </a:solidFill>
                <a:latin typeface="Calibri"/>
              </a:defRPr>
            </a:pPr>
            <a:r>
              <a:t>100+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Tailored CVs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572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78BFA"/>
                </a:solidFill>
                <a:latin typeface="Calibri"/>
              </a:defRPr>
            </a:pPr>
            <a:r>
              <a:t>40+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Websites Scanned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4572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B923C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Search Queries/Run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4572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ACC15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Reports/Batch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00584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Configuration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onsolas"/>
              </a:defRPr>
            </a:pPr>
            <a:r>
              <a:t>profile.yml  |  skills-model.md  |  portals.yml  |  cv.md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Identity, scoring rules, search config, canonical 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10698480" cy="100584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73152" cy="10058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06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Calibri"/>
              </a:defRPr>
            </a:pPr>
            <a:r>
              <a:t>Scanning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71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onsolas"/>
              </a:defRPr>
            </a:pPr>
            <a:r>
              <a:t>WebSearch API  |  Greenhouse API  |  Lever  |  Ashby  |  Dice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88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Parallel batch queries across 40+ career portals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10698480" cy="100584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73152" cy="10058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947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Intelligence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60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onsolas"/>
              </a:defRPr>
            </a:pPr>
            <a:r>
              <a:t>Claude AI  |  Core Strength Engagement Test  |  Skills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7-pillar scoring framework with modifiers and caps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37760"/>
            <a:ext cx="10698480" cy="100584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937760"/>
            <a:ext cx="73152" cy="10058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Calibri"/>
              </a:defRPr>
            </a:pPr>
            <a:r>
              <a:t>Output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349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onsolas"/>
              </a:defRPr>
            </a:pPr>
            <a:r>
              <a:t>Reports  |  CVs (HTML/PDF)  |  Tracker  |  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166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Evaluation reports, tailored resumes, pipeline dashboard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852160" y="2377440"/>
            <a:ext cx="365760" cy="182880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5852160" y="3566160"/>
            <a:ext cx="365760" cy="182880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5852160" y="4754880"/>
            <a:ext cx="365760" cy="182880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1: Configuration — Teaching the AI About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51760" cy="475488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onsolas"/>
              </a:defRPr>
            </a:pPr>
            <a:r>
              <a:t>profile.yml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Your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Full name, credentials, contact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Target roles &amp; archetypes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Compensation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Deal-breakers &amp; preferences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Location &amp; visa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371600"/>
            <a:ext cx="2651760" cy="475488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371600"/>
            <a:ext cx="265176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onsolas"/>
              </a:defRPr>
            </a:pPr>
            <a:r>
              <a:t>skills-model.md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Decision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7 Core Strengths (CS-1 to CS-7)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Scoring rules &amp; modifiers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Resume generation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Tier ranking (1-4)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De-emphasis rules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371600"/>
            <a:ext cx="2651760" cy="475488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371600"/>
            <a:ext cx="265176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onsolas"/>
              </a:defRPr>
            </a:pPr>
            <a:r>
              <a:t>cv.md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Canonical CV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Work history with metrics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Projects &amp; achievements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Certifications &amp; education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Source of truth — never fabricate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Updated by the candidate only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1371600"/>
            <a:ext cx="2651760" cy="475488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8280" y="1371600"/>
            <a:ext cx="2651760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6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  <a:latin typeface="Consolas"/>
              </a:defRPr>
            </a:pPr>
            <a:r>
              <a:t>portals.yml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Search Config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12 search query templates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31 tracked companies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Title filters (positive/negative)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Seniority boost keywords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API endpoints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2: Portal Scanning — 40+ Websites in Parallel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51760" cy="219456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Job Board Platforms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Greenhouse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Lever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Ashby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LinkedIn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889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Dice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371600"/>
            <a:ext cx="2651760" cy="219456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371600"/>
            <a:ext cx="265176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Enterprise Tech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8745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IBM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1031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Microsoft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3317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AWS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Google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7889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Salesforce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0175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ServiceNow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371600"/>
            <a:ext cx="2651760" cy="219456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371600"/>
            <a:ext cx="265176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Consulting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8745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Accenture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1031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Deloitte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3317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KPMG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PwC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7889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0175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Booz Allen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246119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Cognizant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1371600"/>
            <a:ext cx="2651760" cy="219456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8280" y="1371600"/>
            <a:ext cx="265176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  <a:latin typeface="Calibri"/>
              </a:defRPr>
            </a:pPr>
            <a:r>
              <a:t>Financial Services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18745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JPMorgan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21031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Citi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23317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Goldman Sachs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Prudential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27889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MetLife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840480"/>
            <a:ext cx="2651760" cy="219456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3840480"/>
            <a:ext cx="2651760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3977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Calibri"/>
              </a:defRPr>
            </a:pPr>
            <a:r>
              <a:t>Healthcare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43434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J&amp;J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4572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Merck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48006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UnitedHealth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37560" y="3840480"/>
            <a:ext cx="2651760" cy="219456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337560" y="3840480"/>
            <a:ext cx="2651760" cy="4572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0" y="3977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CC15"/>
                </a:solidFill>
                <a:latin typeface="Calibri"/>
              </a:defRPr>
            </a:pPr>
            <a:r>
              <a:t>AI / Tech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0" y="43434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Anthropic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74720" y="4572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OpenAI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0" y="48006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Palantir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74720" y="50292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Glean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3840480"/>
            <a:ext cx="2651760" cy="219456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17920" y="3840480"/>
            <a:ext cx="265176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3977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Government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5080" y="43434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Leidos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4572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SAIC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55080" y="48006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WSP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50292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AECOM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80" y="52578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Parsons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Scanning Works: Query to Candidate URL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1691640" cy="228600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64592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Calibri"/>
              </a:defRPr>
            </a:pPr>
            <a:r>
              <a:t>Load</a:t>
            </a:r>
            <a:br/>
            <a:r>
              <a:t>portals.yml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Read 12 queries</a:t>
            </a:r>
            <a:br/>
            <a:r>
              <a:t>+ 31 companies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03120" y="2377440"/>
            <a:ext cx="228600" cy="22860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31720" y="1463040"/>
            <a:ext cx="1691640" cy="228600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80360" y="164592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28600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Calibri"/>
              </a:defRPr>
            </a:pPr>
            <a:r>
              <a:t>Build Search</a:t>
            </a:r>
            <a:br/>
            <a:r>
              <a:t>Queries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9260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site:boards.greenhouse.io</a:t>
            </a:r>
            <a:br/>
            <a:r>
              <a:t>"Project Manager"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69080" y="2377440"/>
            <a:ext cx="228600" cy="228600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1463040"/>
            <a:ext cx="1691640" cy="228600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6320" y="1645920"/>
            <a:ext cx="502920" cy="5029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28600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Calibri"/>
              </a:defRPr>
            </a:pPr>
            <a:r>
              <a:t>Execute via</a:t>
            </a:r>
            <a:br/>
            <a:r>
              <a:t>WebSearch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9260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Parallel batches</a:t>
            </a:r>
            <a:br/>
            <a:r>
              <a:t>of 3-4 queries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35040" y="2377440"/>
            <a:ext cx="228600" cy="22860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1463040"/>
            <a:ext cx="1691640" cy="228600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12280" y="1645920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8600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  <a:latin typeface="Calibri"/>
              </a:defRPr>
            </a:pPr>
            <a:r>
              <a:t>Parse</a:t>
            </a:r>
            <a:br/>
            <a:r>
              <a:t>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9260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Extract URLs,</a:t>
            </a:r>
            <a:br/>
            <a:r>
              <a:t>titles, snippets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001000" y="2377440"/>
            <a:ext cx="228600" cy="228600"/>
          </a:xfrm>
          <a:prstGeom prst="rightArrow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0" y="1463040"/>
            <a:ext cx="1691640" cy="228600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0" y="1645920"/>
            <a:ext cx="502920" cy="50292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28600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CC15"/>
                </a:solidFill>
                <a:latin typeface="Calibri"/>
              </a:defRPr>
            </a:pPr>
            <a:r>
              <a:t>Dedup vs</a:t>
            </a:r>
            <a:br/>
            <a:r>
              <a:t>History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9260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Check scan-</a:t>
            </a:r>
            <a:br/>
            <a:r>
              <a:t>history.tsv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966960" y="2377440"/>
            <a:ext cx="228600" cy="228600"/>
          </a:xfrm>
          <a:prstGeom prst="rightArrow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195560" y="1463040"/>
            <a:ext cx="1691640" cy="228600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744200" y="1645920"/>
            <a:ext cx="502920" cy="50292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228600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7171"/>
                </a:solidFill>
                <a:latin typeface="Calibri"/>
              </a:defRPr>
            </a:pPr>
            <a:r>
              <a:t>Title</a:t>
            </a:r>
            <a:br/>
            <a:r>
              <a:t>Filter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29260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Match positive,</a:t>
            </a:r>
            <a:br/>
            <a:r>
              <a:t>reject negative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114800"/>
            <a:ext cx="10698480" cy="219456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Example Search Query: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663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onsolas"/>
              </a:defRPr>
            </a:pPr>
            <a:r>
              <a:t>site:boards.greenhouse.io "Technical Project Manager" OR "Program Manager"</a:t>
            </a:r>
            <a:br/>
            <a:r>
              <a:t>OR "Delivery Lead" remote OR "New Jersey" OR "New York"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Returns: 8-15 results per query  |  Dedup filters ~30% as already seen  |  Title filter removes ~20% mismatches</a:t>
            </a:r>
            <a:br/>
            <a:r>
              <a:t>Net new per scan: ~15-25 unique candidate URLs ready for evaluation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3: AI-Powered Evaluation — The Scoring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6583680" cy="59436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4864" cy="594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onsolas"/>
              </a:defRPr>
            </a:pPr>
            <a:r>
              <a:t>CS-1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325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Enterprise Delivery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00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 teams, 50+ engineers, $3M budget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93391"/>
            <a:ext cx="6583680" cy="59436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993391"/>
            <a:ext cx="54864" cy="59436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39111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onsolas"/>
              </a:defRPr>
            </a:pPr>
            <a:r>
              <a:t>CS-2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03911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AWS + Snowflake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313431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Cloud infrastructure + data migration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06624"/>
            <a:ext cx="6583680" cy="59436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706624"/>
            <a:ext cx="54864" cy="5943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75234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Consolas"/>
              </a:defRPr>
            </a:pPr>
            <a:r>
              <a:t>CS-3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7523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DevOps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02666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40% fewer outages, 70% faster provisioning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19856"/>
            <a:ext cx="6583680" cy="59436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419856"/>
            <a:ext cx="54864" cy="59436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6557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  <a:latin typeface="Consolas"/>
              </a:defRPr>
            </a:pPr>
            <a:r>
              <a:t>CS-4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4655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Power BI Dashboards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73989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Executive reporting for VP/R&amp;D leadership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33087"/>
            <a:ext cx="6583680" cy="59436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133087"/>
            <a:ext cx="54864" cy="59436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178807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Consolas"/>
              </a:defRPr>
            </a:pPr>
            <a:r>
              <a:t>CS-5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17880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Cross-Functional 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453127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Multi-geo, multi-vendor coordination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846320"/>
            <a:ext cx="6583680" cy="59436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846320"/>
            <a:ext cx="54864" cy="5943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8920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onsolas"/>
              </a:defRPr>
            </a:pPr>
            <a:r>
              <a:t>CS-6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892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SAFe SPC6 at 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51663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ARTs, PI Planning, Jira Align portfolio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559552"/>
            <a:ext cx="6583680" cy="59436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5559552"/>
            <a:ext cx="54864" cy="5943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6052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  <a:latin typeface="Consolas"/>
              </a:defRPr>
            </a:pPr>
            <a:r>
              <a:t>CS-7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56052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Regulated Environments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58795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Pharma R&amp;D + compliance infrastructure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1280160"/>
            <a:ext cx="3931920" cy="493776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1280160"/>
            <a:ext cx="393192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79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Calibri"/>
              </a:defRPr>
            </a:pPr>
            <a:r>
              <a:t>Scoring Rules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1920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5-7 CS engaged = 4.0+ score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22677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3-4 CS engaged = 3.0 - 3.9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26151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1-2 CS engaged = 2.0 - 2.9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296265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7955279" y="33101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Modifiers: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3657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CC15"/>
                </a:solidFill>
                <a:latin typeface="Consolas"/>
              </a:defRPr>
            </a:pPr>
            <a:r>
              <a:t>  CS-1 absent  = cap at 3.5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40050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CC15"/>
                </a:solidFill>
                <a:latin typeface="Consolas"/>
              </a:defRPr>
            </a:pPr>
            <a:r>
              <a:t>  CS-2 absent  = reduce 0.3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43525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CC15"/>
                </a:solidFill>
                <a:latin typeface="Consolas"/>
              </a:defRPr>
            </a:pPr>
            <a:r>
              <a:t>  CS-4 present = add 0.2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4700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CC15"/>
                </a:solidFill>
                <a:latin typeface="Consolas"/>
              </a:defRPr>
            </a:pPr>
            <a:r>
              <a:t>  CS-6 required = add 0.2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50474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CC15"/>
                </a:solidFill>
                <a:latin typeface="Consolas"/>
              </a:defRPr>
            </a:pPr>
            <a:r>
              <a:t>  Tier 4 primary = cap at 3.0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Evaluation in Action: Real Scoring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84632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Rula — Technical Project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Calibri"/>
              </a:defRPr>
            </a:pPr>
            <a:r>
              <a:t>Remote  |  Healthcare (Mental Health)  |  Data Platform TPM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onsolas"/>
              </a:defRPr>
            </a:pPr>
            <a:r>
              <a:t>Classification: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SECONDARY TARGET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700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onsolas"/>
              </a:defRPr>
            </a:pPr>
            <a:r>
              <a:t>Resume Selected: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6700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Technical 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552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Core Strengths Engaged: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478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onsolas"/>
              </a:defRPr>
            </a:pPr>
            <a:r>
              <a:t>  CS-1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547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Enterprise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onsolas"/>
              </a:defRPr>
            </a:pPr>
            <a:r>
              <a:t>  CS-2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840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Data platform (Snowflake adjacent)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3308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CC15"/>
                </a:solidFill>
                <a:latin typeface="Consolas"/>
              </a:defRPr>
            </a:pPr>
            <a:r>
              <a:t>  CS-5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13308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Cross-functional coordination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256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onsolas"/>
              </a:defRPr>
            </a:pPr>
            <a:r>
              <a:t>  CS-7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4256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Healthcare regulated environment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10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Gaps Identified: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7171"/>
                </a:solidFill>
                <a:latin typeface="Consolas"/>
              </a:defRPr>
            </a:pPr>
            <a:r>
              <a:t>  Domain: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Mental health vs pharma R&amp;D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961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Consolas"/>
              </a:defRPr>
            </a:pPr>
            <a:r>
              <a:t>  Comp: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5961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Salary range unclear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371600"/>
            <a:ext cx="5029200" cy="484632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371600"/>
            <a:ext cx="502920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Score Calculation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Base: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4 CS engaged (CS-1, CS-2, CS-5, CS-7)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2103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3.5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6060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Modifier: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2606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CS-1 present (no cap)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260603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4ADE80"/>
                </a:solidFill>
                <a:latin typeface="Calibri"/>
              </a:defRPr>
            </a:pPr>
            <a:r>
              <a:t>+0.0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108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Modifier: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CS-2 present (no reduction)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3108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4ADE80"/>
                </a:solidFill>
                <a:latin typeface="Calibri"/>
              </a:defRPr>
            </a:pPr>
            <a:r>
              <a:t>+0.0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611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  <a:latin typeface="Calibri"/>
              </a:defRPr>
            </a:pPr>
            <a:r>
              <a:t>Modifier: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CS-4 absent (no bonus)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3611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  <a:latin typeface="Calibri"/>
              </a:defRPr>
            </a:pPr>
            <a:r>
              <a:t>+0.0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114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Calibri"/>
              </a:defRPr>
            </a:pPr>
            <a:r>
              <a:t>Modifier: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Healthcare adjacency bonus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4114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ACC15"/>
                </a:solidFill>
                <a:latin typeface="Calibri"/>
              </a:defRPr>
            </a:pPr>
            <a:r>
              <a:t>+0.2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Modifier: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461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Remote-first alignment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4617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78BFA"/>
                </a:solidFill>
                <a:latin typeface="Calibri"/>
              </a:defRPr>
            </a:pPr>
            <a:r>
              <a:t>+0.2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0" y="5212080"/>
            <a:ext cx="4663440" cy="822960"/>
          </a:xfrm>
          <a:prstGeom prst="roundRect">
            <a:avLst>
              <a:gd name="adj" fmla="val 3000"/>
            </a:avLst>
          </a:prstGeom>
          <a:solidFill>
            <a:srgbClr val="164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0" y="5303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FINAL SCORE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52578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600" b="1">
                <a:solidFill>
                  <a:srgbClr val="4ADE80"/>
                </a:solidFill>
                <a:latin typeface="Calibri"/>
              </a:defRPr>
            </a:pPr>
            <a:r>
              <a:t>3.9/5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4: Report Generation — Structured Decision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486400" cy="484632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0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Calibri"/>
              </a:defRPr>
            </a:pPr>
            <a:r>
              <a:t>Report Contents (Markdown)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Header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Company, role, URL, date, score, verification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Role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PRIMARY or SECONDARY target — drives resume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Core Strength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Which of the 7 CS pillars are engaged and how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Gap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Missing requirements, domain risks, comp concerns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Resume Recommendation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Agile or Technical PM — with reasoning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Positioning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How to frame experience for this specific 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Interview Prep Hooks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STAR stories mapped to likely interview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Apply / Skip / Monitor — with confidence score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1371600"/>
            <a:ext cx="5029200" cy="484632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75120" y="1371600"/>
            <a:ext cx="502920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Calibri"/>
              </a:defRPr>
            </a:pPr>
            <a:r>
              <a:t>Generated Outputs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2103120"/>
            <a:ext cx="4663440" cy="594360"/>
          </a:xfrm>
          <a:prstGeom prst="roundRect">
            <a:avLst>
              <a:gd name="adj" fmla="val 2000"/>
            </a:avLst>
          </a:prstGeom>
          <a:solidFill>
            <a:srgbClr val="12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onsolas"/>
              </a:defRPr>
            </a:pPr>
            <a:r>
              <a:t>reports/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148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009-rula-tpm-2026-05-19.md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4231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Evaluation report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2834639"/>
            <a:ext cx="4663440" cy="594360"/>
          </a:xfrm>
          <a:prstGeom prst="roundRect">
            <a:avLst>
              <a:gd name="adj" fmla="val 2000"/>
            </a:avLst>
          </a:prstGeom>
          <a:solidFill>
            <a:srgbClr val="12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288035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onsolas"/>
              </a:defRPr>
            </a:pPr>
            <a:r>
              <a:t>batch/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8803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009-rula.tsv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154679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Tracker addition row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3566160"/>
            <a:ext cx="4663440" cy="594360"/>
          </a:xfrm>
          <a:prstGeom prst="roundRect">
            <a:avLst>
              <a:gd name="adj" fmla="val 2000"/>
            </a:avLst>
          </a:prstGeom>
          <a:solidFill>
            <a:srgbClr val="12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3611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onsolas"/>
              </a:defRPr>
            </a:pPr>
            <a:r>
              <a:t>output/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611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erick-rosa-tpm-rula.pdf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38862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Tailored resume PDF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0" y="4297680"/>
            <a:ext cx="4663440" cy="594360"/>
          </a:xfrm>
          <a:prstGeom prst="roundRect">
            <a:avLst>
              <a:gd name="adj" fmla="val 2000"/>
            </a:avLst>
          </a:prstGeom>
          <a:solidFill>
            <a:srgbClr val="12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4343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Consolas"/>
              </a:defRPr>
            </a:pPr>
            <a:r>
              <a:t>jds/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4343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rula-tpm.md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46177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Cached JD text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0" y="5029200"/>
            <a:ext cx="4663440" cy="594360"/>
          </a:xfrm>
          <a:prstGeom prst="roundRect">
            <a:avLst>
              <a:gd name="adj" fmla="val 2000"/>
            </a:avLst>
          </a:prstGeom>
          <a:solidFill>
            <a:srgbClr val="12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0" y="5074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onsolas"/>
              </a:defRPr>
            </a:pPr>
            <a:r>
              <a:t>logs/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5074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tmp-2026-05-19.md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53492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Micro-log entry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5852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923C"/>
                </a:solidFill>
                <a:latin typeface="Consolas"/>
              </a:defRPr>
            </a:pPr>
            <a:r>
              <a:t>Naming: {###}-{company-slug}-{YYYY-MM-DD}.md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5: Resume Tailoring — One CV, Many Faces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320040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Technical PM Resume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For TPM, PM, Delivery Lead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Leads with CS-1 + CS-2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Enterprise delivery + cloud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Power BI dashboards, DevOps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Verisk + Sanofi as lead proof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PMP + AWS Cloud Practitioner featured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371600"/>
            <a:ext cx="5303520" cy="320040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371600"/>
            <a:ext cx="530352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Calibri"/>
              </a:defRPr>
            </a:pPr>
            <a:r>
              <a:t>Agile Resume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965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For Agile Coach, Scrum Master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468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Leads with CS-1 + CS-6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834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Enterprise delivery + SAFe SPC6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ART coaching, PI Planning, Jira Align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Transformation narrative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SPC6 + PMI-ACP + SSM featured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46320"/>
            <a:ext cx="10698480" cy="137160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CC15"/>
                </a:solidFill>
                <a:latin typeface="Calibri"/>
              </a:defRPr>
            </a:pPr>
            <a:r>
              <a:t>Positioning Rules (always enforced)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49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Always lead with CS-1 + CS-2 (or CS-6 for Agile roles)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0527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Never lead with Agile coaching identity in TPM outputs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61304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BTII (current role) always listed last — never used as lead proof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11733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Every metric comes from cv.md — never fabricated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6: Pipeline Tracking — Your Job Search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301752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4572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CC15"/>
                </a:solidFill>
                <a:latin typeface="Calibri"/>
              </a:defRPr>
            </a:pPr>
            <a:r>
              <a:t>applications.md — Pipeline 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116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199" y="2011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39" y="2011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79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39" y="2011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377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009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377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2026-05-19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3774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Rula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199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Technical Project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9" y="23774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Consolas"/>
              </a:defRPr>
            </a:pPr>
            <a:r>
              <a:t>3.9/5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79" y="2377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Evaluated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39" y="2377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009-rula-tpm...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697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008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2697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2026-05-19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26974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Mercury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199" y="2697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Senior TPM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39" y="26974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Consolas"/>
              </a:defRPr>
            </a:pPr>
            <a:r>
              <a:t>3.8/5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79" y="2697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Evaluated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39" y="26974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008-mercury...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017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007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3017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2026-05-19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3017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Nava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199" y="3017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Sr. Project Manager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39" y="3017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Consolas"/>
              </a:defRPr>
            </a:pPr>
            <a:r>
              <a:t>3.7/5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79" y="3017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Evaluated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39" y="3017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007-nava-sr...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3375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3337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2026-05-19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33375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Neon 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199" y="3337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Agile Delivery Mgr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39" y="33375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Consolas"/>
              </a:defRPr>
            </a:pPr>
            <a:r>
              <a:t>3.5/5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79" y="3337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Evaluated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39" y="33375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onsolas"/>
              </a:defRPr>
            </a:pPr>
            <a:r>
              <a:t>011-neon-one...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Canonical State Flow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120640"/>
            <a:ext cx="1554480" cy="54864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1520" y="5120640"/>
            <a:ext cx="4572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51663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Evaluated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2331720" y="5257800"/>
            <a:ext cx="22860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606039" y="5120640"/>
            <a:ext cx="1554480" cy="54864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606039" y="5120640"/>
            <a:ext cx="45720" cy="5486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199" y="51663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DE80"/>
                </a:solidFill>
                <a:latin typeface="Calibri"/>
              </a:defRPr>
            </a:pPr>
            <a:r>
              <a:t>Applied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4206239" y="5257800"/>
            <a:ext cx="22860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480559" y="5120640"/>
            <a:ext cx="1554480" cy="54864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480559" y="5120640"/>
            <a:ext cx="45720" cy="5486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17719" y="51663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78BFA"/>
                </a:solidFill>
                <a:latin typeface="Calibri"/>
              </a:defRPr>
            </a:pPr>
            <a:r>
              <a:t>Responded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6080759" y="5257800"/>
            <a:ext cx="22860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355079" y="5120640"/>
            <a:ext cx="1554480" cy="54864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5079" y="5120640"/>
            <a:ext cx="45720" cy="5486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39" y="51663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923C"/>
                </a:solidFill>
                <a:latin typeface="Calibri"/>
              </a:defRPr>
            </a:pPr>
            <a:r>
              <a:t>Interview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7955279" y="5257800"/>
            <a:ext cx="22860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229600" y="5120640"/>
            <a:ext cx="1554480" cy="54864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29600" y="5120640"/>
            <a:ext cx="45720" cy="54864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66760" y="51663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CC15"/>
                </a:solidFill>
                <a:latin typeface="Calibri"/>
              </a:defRPr>
            </a:pPr>
            <a:r>
              <a:t>Offer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9829800" y="5257800"/>
            <a:ext cx="22860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0104120" y="5120640"/>
            <a:ext cx="1554480" cy="54864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104120" y="5120640"/>
            <a:ext cx="45720" cy="5486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241280" y="51663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7171"/>
                </a:solidFill>
                <a:latin typeface="Calibri"/>
              </a:defRPr>
            </a:pPr>
            <a:r>
              <a:t>Rejected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31520" y="5943600"/>
            <a:ext cx="10698480" cy="64008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4400" y="5989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Integrity Tools:   verify-pipeline.mjs (health check)   |   merge-tracker.mjs (TSV merge)   |   normalize-statuses.mjs   |   dedup-tracker.mjs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7: Human-in-the-Loop — Apply &amp; Respond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7171"/>
                </a:solidFill>
                <a:latin typeface="Calibri"/>
              </a:defRPr>
            </a:pPr>
            <a:r>
              <a:t>The AI prepares everything — YOU make the final call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02920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Calibri"/>
              </a:defRPr>
            </a:pPr>
            <a:r>
              <a:t>What the AI Prepares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Tailored resume PDF matched to the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Cover letter draft (if required)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Application form pre-fill (company, role, links)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Screening question answers from cv.md proof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Recruiter email draft with positioning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LinkedIn connection message draft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Interview prep: STAR stories mapped to likely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66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Salary negotiation scripts with market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45920"/>
            <a:ext cx="5029200" cy="438912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645920"/>
            <a:ext cx="502920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Calibri"/>
              </a:defRPr>
            </a:pPr>
            <a:r>
              <a:t>What YOU 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Review the evaluation report and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Decide: Apply, Skip, or Monitor?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Review and edit the tailored resume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Personalize the cover letter / email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Click Submit on the application portal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Send the recruiter email / LinkedIn message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Update status: Applied, Responded, Interview...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166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Override the AI if your judgment differs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6217920"/>
            <a:ext cx="10698480" cy="457200"/>
          </a:xfrm>
          <a:prstGeom prst="roundRect">
            <a:avLst>
              <a:gd name="adj" fmla="val 2000"/>
            </a:avLst>
          </a:prstGeom>
          <a:solidFill>
            <a:srgbClr val="3B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62453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SAFETY RULE: The system NEVER auto-submits applications. Quality over quantity — every application a human reads costs someone's attention.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Real Results: What This System Delivered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51760" cy="228600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38BDF8"/>
                </a:solidFill>
                <a:latin typeface="Calibri"/>
              </a:defRPr>
            </a:pPr>
            <a:r>
              <a:t>740+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Jobs Evaluated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Across 6+ months</a:t>
            </a:r>
            <a:br/>
            <a:r>
              <a:t>of automated scanning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651760" cy="228600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4ADE80"/>
                </a:solidFill>
                <a:latin typeface="Calibri"/>
              </a:defRPr>
            </a:pPr>
            <a:r>
              <a:t>100+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Tailored CVs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560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Each one customized</a:t>
            </a:r>
            <a:br/>
            <a:r>
              <a:t>to the specific role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2651760" cy="228600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A78BFA"/>
                </a:solidFill>
                <a:latin typeface="Calibri"/>
              </a:defRPr>
            </a:pPr>
            <a:r>
              <a:t>40+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Portals Scanned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60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Enterprise, consulting,</a:t>
            </a:r>
            <a:br/>
            <a:r>
              <a:t>finance, healthcare,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371600"/>
            <a:ext cx="2651760" cy="228600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87171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Spam Applications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560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Every submission was</a:t>
            </a:r>
            <a:br/>
            <a:r>
              <a:t>human-reviewed first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10698480" cy="256032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CC15"/>
                </a:solidFill>
                <a:latin typeface="Calibri"/>
              </a:defRPr>
            </a:pPr>
            <a:r>
              <a:t>Time Investment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7171"/>
                </a:solidFill>
                <a:latin typeface="Calibri"/>
              </a:defRPr>
            </a:pPr>
            <a:r>
              <a:t>Manual Search: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4572000"/>
            <a:ext cx="7772400" cy="320040"/>
          </a:xfrm>
          <a:prstGeom prst="roundRect">
            <a:avLst>
              <a:gd name="adj" fmla="val 2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45720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50+ hours/week — searching, reading JDs, tailoring resumes, tracking, following 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20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With Pipeline: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80" y="5120640"/>
            <a:ext cx="2286000" cy="320040"/>
          </a:xfrm>
          <a:prstGeom prst="roundRect">
            <a:avLst>
              <a:gd name="adj" fmla="val 2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51206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~5 hrs/week — review + apply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CC15"/>
                </a:solidFill>
                <a:latin typeface="Calibri"/>
              </a:defRPr>
            </a:pPr>
            <a:r>
              <a:t>90% reduction in search/eval time  |  Higher quality applications  |  Better role-candidate fit  |  Zero missed opportunities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Build Your Own Career-Ops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DE80"/>
                </a:solidFill>
                <a:latin typeface="Calibri"/>
              </a:defRPr>
            </a:pPr>
            <a:r>
              <a:t>Everything you need to get started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400800" cy="73152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73736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64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Install 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66420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CLI tool that powers the entire pipeline</a:t>
            </a:r>
            <a:br/>
            <a:r>
              <a:t>claude.ai/code — free to start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6400800" cy="73152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606040"/>
            <a:ext cx="502920" cy="5029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5328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Write Your 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53288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Markdown format — your source of truth</a:t>
            </a:r>
            <a:br/>
            <a:r>
              <a:t>Metrics, achievements, proof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83280"/>
            <a:ext cx="6400800" cy="73152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2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4015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Define Your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40156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Target roles, comp, location, deal-breakers</a:t>
            </a:r>
            <a:br/>
            <a:r>
              <a:t>YAML config — easy to update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51959"/>
            <a:ext cx="6400800" cy="73152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4343399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27024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Calibri"/>
              </a:defRPr>
            </a:pPr>
            <a:r>
              <a:t>Configure Portals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270247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Add companies and job boards you care about</a:t>
            </a:r>
            <a:br/>
            <a:r>
              <a:t>40+ pre-configured — customize for your field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20640"/>
            <a:ext cx="6400800" cy="73152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5212080"/>
            <a:ext cx="502920" cy="50292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1389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CC15"/>
                </a:solidFill>
                <a:latin typeface="Calibri"/>
              </a:defRPr>
            </a:pPr>
            <a:r>
              <a:t>Run Your First Scan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13892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Paste a URL or run the scanner</a:t>
            </a:r>
            <a:br/>
            <a:r>
              <a:t>The AI handles evaluation, scoring, and reports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1645920"/>
            <a:ext cx="4114800" cy="4343400"/>
          </a:xfrm>
          <a:prstGeom prst="roundRect">
            <a:avLst>
              <a:gd name="adj" fmla="val 2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89520" y="1645920"/>
            <a:ext cx="41148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Core Principles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Quality &gt; Quantity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606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5 great applications beat</a:t>
            </a:r>
            <a:br/>
            <a:r>
              <a:t>50 generic ones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154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Human-in-the-Loop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AI prepares, you decide</a:t>
            </a:r>
            <a:br/>
            <a:r>
              <a:t>and submit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023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Fully Customizable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343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Change archetypes, scoring,</a:t>
            </a:r>
            <a:br/>
            <a:r>
              <a:t>portals — it's YOUR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892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Open Source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212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Fork it, modify it,</a:t>
            </a:r>
            <a:br/>
            <a:r>
              <a:t>make it yours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943600"/>
            <a:ext cx="10698480" cy="640080"/>
          </a:xfrm>
          <a:prstGeom prst="roundRect">
            <a:avLst>
              <a:gd name="adj" fmla="val 3000"/>
            </a:avLst>
          </a:prstGeom>
          <a:solidFill>
            <a:srgbClr val="0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989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github.com/santifer/career-ops  |  Built with Claude Code  |  Your job search deserves engineering discipline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